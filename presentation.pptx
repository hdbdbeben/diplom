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АВТОМАТИЗАЦИЯ БУХГАЛТЕРСКОЙ ДЕЯТЕЛЬНОСТИ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98DB"/>
                </a:solidFill>
              </a:rPr>
              <a:t>В СФЕРЕ СОЦИАЛЬНЫХ УСЛУГ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CF0F1"/>
                </a:solidFill>
              </a:rPr>
              <a:t>на примере ООО «Социальные услуги»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3383280"/>
            <a:ext cx="5760720" cy="27432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7490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0F1"/>
                </a:solidFill>
              </a:rPr>
              <a:t>Выпускная квалификационная работа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CF0F1"/>
                </a:solidFill>
              </a:rPr>
              <a:t>Выполнил: Трушкин Александр Александрович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Москва, 2026 г.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Актуальность и цель работы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C1"/>
                </a:solidFill>
              </a:rPr>
              <a:t>Рост организации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ООО «Социальные услуги» — быстрорастущая организация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C1"/>
                </a:solidFill>
              </a:rPr>
              <a:t>Выручка 2025 г.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57 970 тыс. руб. — рост на **145,7%** к 2024 году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C1"/>
                </a:solidFill>
              </a:rPr>
              <a:t>Нагрузка на бухгалтерию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Ручное разнесение банковских выписок занимает много времени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C1"/>
                </a:solidFill>
              </a:rPr>
              <a:t>Ошибки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Ручная обработка ведёт к ошибкам и отвлекает от аналитической работы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7548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C1"/>
                </a:solidFill>
              </a:rPr>
              <a:t>Цифровая трансформация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Автоматизация — часть цифровой трансформации и повышения конкурентоспособности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577840"/>
            <a:ext cx="11247120" cy="594360"/>
          </a:xfrm>
          <a:prstGeom prst="roundRect">
            <a:avLst>
              <a:gd name="adj" fmla="val 15385"/>
            </a:avLst>
          </a:prstGeom>
          <a:solidFill>
            <a:srgbClr val="2E86C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596128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Цель: автоматизация бухгалтерской деятельности в сфере социальных услуг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Объект, предмет и задачи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43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Объект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Бухгалтерия ООО «Социальные услуги»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ECF0F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143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Предмет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Процесс автоматизации разнесения банковских выписок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6E"/>
                </a:solidFill>
              </a:rPr>
              <a:t>Задачи (8):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26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1.  Анализ предметной области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03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2.  Анализ существующих бизнес-процессов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480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3.  Выявление проблем текущей системы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4.  Обзор существующих решений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83464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2926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5.  Формирование требований к системе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361188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3703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6.  Обоснование проектных решений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438912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4480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7.  Разработка проекта автоматизации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5166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28" name="Text 26"/>
          <p:cNvSpPr/>
          <p:nvPr/>
        </p:nvSpPr>
        <p:spPr>
          <a:xfrm>
            <a:off x="635508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8.  Экономическое обоснование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Характеристика организации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ООО «Социальные услуги»: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10058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Москва, ИНН 7713699602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Создана: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19.01.2010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Сотрудников (конец 2025 г.):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0116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47 человек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5146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Доля специалистов: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25146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68,1%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017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Лицензии: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30175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4 лицензии по 3 видам деятельности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5204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Основной заказчик: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35204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Департамент труда и социальной защиты Москвы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C6E"/>
                </a:solidFill>
              </a:rPr>
              <a:t>Структура выручки: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73152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Направление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Социальное обслуживание пожилых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Социально-психологические услуги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Консультационные услуги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государственных контрактов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Проблема и обоснование автоматизации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11247120" cy="1097280"/>
          </a:xfrm>
          <a:prstGeom prst="roundRect">
            <a:avLst>
              <a:gd name="adj" fmla="val 8333"/>
            </a:avLst>
          </a:prstGeom>
          <a:solidFill>
            <a:srgbClr val="FADBD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КЛЮЧЕВАЯ ПРОБЛЕМА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</a:rPr>
              <a:t>Ручное разнесение банковских выписок в 1С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411480" cy="4114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05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3774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Неструктурированное поле «Назначение платежа» затрудняет автоматическую классификацию операций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82112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821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108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Высокая доля ручной работы — увеличение времени обработки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411480" cy="4114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136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840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Сложности с формированием управленческого отчёта о движении денежных средств (ДДС)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645152"/>
            <a:ext cx="411480" cy="411480"/>
          </a:xfrm>
          <a:prstGeom prst="ellipse">
            <a:avLst/>
          </a:prstGeom>
          <a:solidFill>
            <a:srgbClr val="1A3C6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451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572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Невозможность автоматического исключения внутренних оборотов между организациями группы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76672"/>
            <a:ext cx="411480" cy="4114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3766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53035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Риск ошибок при ручном вводе реквизитов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Обзор решений и выбор стратегии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Особенности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Оценка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SOFIT Bank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базе Oracle, высокая интеграция. Дорогостоящий, требуется квалифицированный персонал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1С: Автоматизированная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банковская система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 1С:Предприятие 8.3, открытый код, интеграция с существующей учётной системой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RPA-автоматизация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Программные роботы, интеграция с OCR и ML. Требует отдельной платформы управления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Корс-ПП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Программа для учёта платёжных поручений. Ограниченный функционал, слабая интеграция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572000"/>
            <a:ext cx="11247120" cy="1645920"/>
          </a:xfrm>
          <a:prstGeom prst="roundRect">
            <a:avLst>
              <a:gd name="adj" fmla="val 5556"/>
            </a:avLst>
          </a:prstGeom>
          <a:solidFill>
            <a:srgbClr val="D5F5E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617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</a:rPr>
              <a:t>ВЫБОР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</a:rPr>
              <a:t>Доработка приобретённого решения «1С: Автоматизированная банковская система» штатными специалистами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Обоснование: интеграция с существующей учётной системой, открытый код для доработки, экономическая целесообразность для малой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Процесс разнесения банковской выписки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005840"/>
            <a:ext cx="640080" cy="6400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Получение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выписки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Из интернет-банка или файлового архива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84832" y="1005840"/>
            <a:ext cx="640080" cy="640080"/>
          </a:xfrm>
          <a:prstGeom prst="ellipse">
            <a:avLst/>
          </a:prstGeom>
          <a:solidFill>
            <a:srgbClr val="1A3C6E"/>
          </a:solidFill>
          <a:ln/>
        </p:spPr>
      </p:sp>
      <p:sp>
        <p:nvSpPr>
          <p:cNvPr id="12" name="Text 10"/>
          <p:cNvSpPr/>
          <p:nvPr/>
        </p:nvSpPr>
        <p:spPr>
          <a:xfrm>
            <a:off x="2084832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24912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10512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Распознавание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и парсинг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64792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API, SFTP, OCR;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форматы TXT, CSV, XML, 1C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529584" y="1005840"/>
            <a:ext cx="640080" cy="6400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17" name="Text 15"/>
          <p:cNvSpPr/>
          <p:nvPr/>
        </p:nvSpPr>
        <p:spPr>
          <a:xfrm>
            <a:off x="3529584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69664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255264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Проверка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корректности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9544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Фильтрация дублей,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валидация данных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74336" y="1005840"/>
            <a:ext cx="640080" cy="640080"/>
          </a:xfrm>
          <a:prstGeom prst="ellipse">
            <a:avLst/>
          </a:prstGeom>
          <a:solidFill>
            <a:srgbClr val="1A3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614416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00016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Сопоставление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реквизитов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54296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Контрагенты, договоры,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статьи ДДС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19088" y="1005840"/>
            <a:ext cx="640080" cy="6400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27" name="Text 25"/>
          <p:cNvSpPr/>
          <p:nvPr/>
        </p:nvSpPr>
        <p:spPr>
          <a:xfrm>
            <a:off x="6419088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059168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44768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Формирование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проводок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099048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Бухгалтерские записи,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платёжные поручения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1005840"/>
            <a:ext cx="640080" cy="640080"/>
          </a:xfrm>
          <a:prstGeom prst="ellipse">
            <a:avLst/>
          </a:prstGeom>
          <a:solidFill>
            <a:srgbClr val="1A3C6E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503920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589520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Передача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в 1С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543800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Интеграция с учётной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системой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308592" y="1005840"/>
            <a:ext cx="640080" cy="640080"/>
          </a:xfrm>
          <a:prstGeom prst="ellipse">
            <a:avLst/>
          </a:prstGeom>
          <a:solidFill>
            <a:srgbClr val="2E86C1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48672" y="10515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C1"/>
                </a:solidFill>
              </a:rPr>
              <a:t>→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034272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Контроль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качества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88552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Обработка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исключений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753344" y="1005840"/>
            <a:ext cx="640080" cy="640080"/>
          </a:xfrm>
          <a:prstGeom prst="ellipse">
            <a:avLst/>
          </a:prstGeom>
          <a:solidFill>
            <a:srgbClr val="1A3C6E"/>
          </a:solidFill>
          <a:ln/>
        </p:spPr>
      </p:sp>
      <p:sp>
        <p:nvSpPr>
          <p:cNvPr id="42" name="Text 40"/>
          <p:cNvSpPr/>
          <p:nvPr/>
        </p:nvSpPr>
        <p:spPr>
          <a:xfrm>
            <a:off x="10753344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8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0479024" y="18288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Оповещение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433304" y="25603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Уведомление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сотрудников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347472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37490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Вход: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Выписка из банка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(API/файл)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651760" y="3931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→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3017520" y="37490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3C6E"/>
                </a:solidFill>
              </a:rPr>
              <a:t>Обработка: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3C6E"/>
                </a:solidFill>
              </a:rPr>
              <a:t>Парсинг → Проверка 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3C6E"/>
                </a:solidFill>
              </a:rPr>
              <a:t>Классификация → Проводки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0" y="3931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→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6035040" y="37490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Выход: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1С:Предприятие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Отчёт ДДС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686800" y="3657600"/>
            <a:ext cx="2926080" cy="22860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/>
        </p:spPr>
      </p:sp>
      <p:sp>
        <p:nvSpPr>
          <p:cNvPr id="52" name="Text 50"/>
          <p:cNvSpPr/>
          <p:nvPr/>
        </p:nvSpPr>
        <p:spPr>
          <a:xfrm>
            <a:off x="8869680" y="3749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C6E"/>
                </a:solidFill>
              </a:rPr>
              <a:t>Результат обработки: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869680" y="42062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350 выписок/мес.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46,7 часов ручной работы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≈12 ошибок → снижение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в ~10 раз (~1–2 ошибки)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869680" y="50292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Автомат. разнесение: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84%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Информационное и программное обеспечение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6E"/>
                </a:solidFill>
              </a:rPr>
              <a:t>Пользователи системы (3 категории):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08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Сотрудники бухгалтерии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Работа с выписками, платежами, справочниками, отчётами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286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Сетевой администратор / ИТ-специалист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Администрирование, пользователи, роли, резервное копирование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8F9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063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C1"/>
                </a:solidFill>
              </a:rPr>
              <a:t>Руководитель компании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33756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Просмотр отчётов ДДС, выписок, платежей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6E"/>
                </a:solidFill>
              </a:rPr>
              <a:t>Технологический стек: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Технологии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Фронтенд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18, TypeScript, Vite 6, React Router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Бэкенд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4, TypeScript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База данных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(better-sqlite3); целевая — MySQL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Парсер выписок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1CClientBankExchange v1.03, TXT (CSV), XML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API-моки (dev)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MSW 2 (Mock Service Worker)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Функционал системы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005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Загрузка банковских выписок (1C, TXT, CSV, XML)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Платёжные операции: просмотр, фильтрация, классификация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942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4942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24942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Справочники: контрагенты, банки, статьи ДДС, договоры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7121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712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287121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Отчёт ДДС с экспортом в Excel (CSV)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930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9300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Журнал ошибок с управлением статусами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114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4114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Интеграция с 1С:Предприятие (импорт/экспорт)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73659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3659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473659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Администрирование: пользователи, роли, резервное копирование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3583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2E86C1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35838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4400" y="535838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Журнал действий (аудит операций)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100584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F8F9FA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101498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Платёжные операции</a:t>
            </a:r>
            <a:endParaRPr lang="en-US" sz="1100" dirty="0"/>
          </a:p>
        </p:txBody>
      </p:sp>
      <p:pic>
        <p:nvPicPr>
          <p:cNvPr id="32" name="Image 0" descr="C:\Users\trushkin\Documents\DIPLOM\screenshots\03_payme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325880"/>
            <a:ext cx="5303520" cy="1783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6217920" y="342900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F8F9FA"/>
          </a:solidFill>
          <a:ln/>
        </p:spPr>
      </p:sp>
      <p:sp>
        <p:nvSpPr>
          <p:cNvPr id="34" name="Text 31"/>
          <p:cNvSpPr/>
          <p:nvPr/>
        </p:nvSpPr>
        <p:spPr>
          <a:xfrm>
            <a:off x="6217920" y="343814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6C1"/>
                </a:solidFill>
              </a:rPr>
              <a:t>Отчёт ДДС</a:t>
            </a:r>
            <a:endParaRPr lang="en-US" sz="1100" dirty="0"/>
          </a:p>
        </p:txBody>
      </p:sp>
      <p:pic>
        <p:nvPicPr>
          <p:cNvPr id="35" name="Image 1" descr="C:\Users\trushkin\Documents\DIPLOM\screenshots\05_repor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3749040"/>
            <a:ext cx="530352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Апробация и тестирование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6E"/>
                </a:solidFill>
              </a:rPr>
              <a:t>Пилотное тестирование: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✓  Проверена административная часть системы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✓  Заполнены карточки организации, контрагента и платёжные реквизиты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✓  Добавлен новый контрагент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✓  Проведён тестовый платёж партнёру АО «Флант»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✓  Сгенерирован файл транзакции</a:t>
            </a:r>
            <a:endParaRPr lang="en-US" sz="1300" dirty="0"/>
          </a:p>
        </p:txBody>
      </p:sp>
      <p:pic>
        <p:nvPicPr>
          <p:cNvPr id="12" name="Image 0" descr="C:\Users\trushkin\Documents\DIPLOM\screenshots\10_payment_cre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1005840"/>
            <a:ext cx="4754880" cy="2560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6E"/>
                </a:solidFill>
              </a:rPr>
              <a:t>Результаты тестирования: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572000"/>
            <a:ext cx="5394960" cy="411480"/>
          </a:xfrm>
          <a:prstGeom prst="roundRect">
            <a:avLst>
              <a:gd name="adj" fmla="val 11111"/>
            </a:avLst>
          </a:prstGeom>
          <a:solidFill>
            <a:srgbClr val="ECF0F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45720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✓  Сокращён объём ручных операций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5074920"/>
            <a:ext cx="5394960" cy="411480"/>
          </a:xfrm>
          <a:prstGeom prst="roundRect">
            <a:avLst>
              <a:gd name="adj" fmla="val 11111"/>
            </a:avLst>
          </a:prstGeom>
          <a:solidFill>
            <a:srgbClr val="ECF0F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074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✓  Повышена точность и скорость разнесения данных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77840"/>
            <a:ext cx="5394960" cy="411480"/>
          </a:xfrm>
          <a:prstGeom prst="roundRect">
            <a:avLst>
              <a:gd name="adj" fmla="val 11111"/>
            </a:avLst>
          </a:prstGeom>
          <a:solidFill>
            <a:srgbClr val="ECF0F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55778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✓  Снижена нагрузка на бухгалтеров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572000"/>
            <a:ext cx="5394960" cy="411480"/>
          </a:xfrm>
          <a:prstGeom prst="roundRect">
            <a:avLst>
              <a:gd name="adj" fmla="val 11111"/>
            </a:avLst>
          </a:prstGeom>
          <a:solidFill>
            <a:srgbClr val="ECF0F1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0" y="45720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✓  Система устойчиво обрабатывает до 2 000 выписок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26480" y="5074920"/>
            <a:ext cx="5394960" cy="411480"/>
          </a:xfrm>
          <a:prstGeom prst="roundRect">
            <a:avLst>
              <a:gd name="adj" fmla="val 11111"/>
            </a:avLst>
          </a:prstGeom>
          <a:solidFill>
            <a:srgbClr val="ECF0F1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0" y="5074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✓  Среднее время на выписку — 1,65 сек.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26480" y="5577840"/>
            <a:ext cx="5394960" cy="411480"/>
          </a:xfrm>
          <a:prstGeom prst="roundRect">
            <a:avLst>
              <a:gd name="adj" fmla="val 11111"/>
            </a:avLst>
          </a:prstGeom>
          <a:solidFill>
            <a:srgbClr val="ECF0F1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0" y="55778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✓  Доля автоматического разнесения — 84%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6E"/>
                </a:solidFill>
              </a:rPr>
              <a:t>Экономическая эффективность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E86C1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66751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Капитальные вложения на проектирование (Кп)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253 812,69 руб.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Суммарные затраты на разработку (Кп + Ко)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268 812,69 руб.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Годовая экономия (ΔС)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450 000 руб.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Годовой экон. эффект (Эг = ΔС − Кп × Ен)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425 950,80 руб.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окупаемости (Ток = Эг / ΔС)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 года ≈ 1 месяц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Коэфф. экон. эффективности (Ер)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за 5 лет (ставка 15%)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1 239 660 руб.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406640" y="10058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C6E"/>
                </a:solidFill>
              </a:rPr>
              <a:t>Обоснование годовой экономии (ΔС):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371600"/>
          <a:ext cx="4389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Статья экономии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руб.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Сокращение трудозатрат бухгалтерии (37,95 ч/мес. × 12 мес. × 800 руб./ч)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364 320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Снижение стоимости ошибок (10 опл./мес. × 12 мес. × 500 руб.)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Снижение штрафов и пеней (экспертная оценка)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ΔС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C6E"/>
                </a:solidFill>
              </a:rPr>
              <a:t>Трудоёмкость и NPV:</a:t>
            </a:r>
            <a:endParaRPr lang="en-US" sz="13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17720"/>
          <a:ext cx="4114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Исполнитель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Программист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Общая продолж-ть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 дн.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4617720"/>
          <a:ext cx="6766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63240"/>
                <a:gridCol w="3063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Ден. поток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накопл.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6C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−268 813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−268 813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391 304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122 492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340 266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462 757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295 883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758 640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257 290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1 015 930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223 730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1 239 660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8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6E"/>
                    </a:solidFill>
                  </a:tcPr>
                </a:tc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solidFill>
            <a:srgbClr val="D5F5E3"/>
          </a:solidFill>
          <a:ln/>
        </p:spPr>
      </p:sp>
      <p:sp>
        <p:nvSpPr>
          <p:cNvPr id="13" name="Text 7"/>
          <p:cNvSpPr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Вывод: проект экономически эффективен. Ток ≈ 1 мес. &lt; Тнорм (5 лет), Ер = 2,38 &gt; 0,15. Внедрение целесообразно.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09360"/>
            <a:ext cx="112471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</a:rPr>
              <a:t>ВКР | Трушкин А.А. | Автоматизация бухгалтерской деятельности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Результаты и перспективы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</a:rPr>
              <a:t>Результаты работы: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✓  Проведён анализ предметной области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01368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✓  Разработан проект автоматизации банковских операций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185416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✓  Реализовано веб-приложение с полным циклом обработки выписок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569464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✓  Выполнено экономическое обоснование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53512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✓  Система протестирована (пилотное тестирование)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33756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✓  Сокращён объём ручных операций, снижена нагрузка на бухгалтеров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</a:rPr>
              <a:t>Перспективы развития: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141732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→  Интеграция с системой электронного документооборота (ЭДО)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1801368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→  Применение машинного обучения для классификации неструктурированных назначений платежа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2185416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→  Расширение отчётности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69464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→  Масштабирование на другие организации группы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953512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F0F1"/>
                </a:solidFill>
              </a:rPr>
              <a:t>→  Миграция на PostgreSQL при росте объёмов данных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3931920"/>
            <a:ext cx="10332720" cy="18288"/>
          </a:xfrm>
          <a:prstGeom prst="rect">
            <a:avLst/>
          </a:prstGeom>
          <a:solidFill>
            <a:srgbClr val="2E86C1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ЗАКЛЮЧЕНИЕ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46634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0F1"/>
                </a:solidFill>
              </a:rPr>
              <a:t>Цель работы достигнута — разработан теоретически обоснованный и практически применимый подход к автоматизации разнесения банковских выписок. Результаты могут быть использованы в ООО «Социальные услуги» и адаптированы для других организаций социальной сферы.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98DB"/>
                </a:solidFill>
              </a:rPr>
              <a:t>Спасибо за внимание!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0F1"/>
                </a:solidFill>
              </a:rPr>
              <a:t>Готов ответить на ваши вопросы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Автоматизация бухгалтерской деятельности в сфере социальных услуг</dc:title>
  <dc:subject>PptxGenJS Presentation</dc:subject>
  <dc:creator>Трушкин А.А.</dc:creator>
  <cp:lastModifiedBy>Трушкин А.А.</cp:lastModifiedBy>
  <cp:revision>1</cp:revision>
  <dcterms:created xsi:type="dcterms:W3CDTF">2026-06-28T10:43:19Z</dcterms:created>
  <dcterms:modified xsi:type="dcterms:W3CDTF">2026-06-28T10:43:19Z</dcterms:modified>
</cp:coreProperties>
</file>